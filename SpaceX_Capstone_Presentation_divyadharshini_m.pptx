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357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Applied Data Science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 Prediction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Applied Data Science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Predict Falcon 9 first-stage landing success to estimate launch costs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Dataset: SpaceX REST API + Wikipedia web scraping (2010–2020)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Methods: EDA, SQL, Folium maps, Plotly Dash, ML classification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Best model achieves ~84–85% CV accuracy across 4 algorithms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Insight: launch site, orbit type &amp; flight number are key success drivers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offers Falcon 9 launches at $62M vs $165M+ for competitors, primarily because the first stage booster is reused.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predict whether the first stage will land successfully, we can estimate the true cost of a launch — information valuable to competing companies bidding against SpaceX.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9768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07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60020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via SpaceX REST API and Wikipedia web scraping
</a:t>
            </a: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wrangling and feature engineering
</a:t>
            </a: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EDA using visualizations and SQL queries
</a:t>
            </a: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maps with Folium
</a:t>
            </a: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Plotly Dash dashboard for analysis
</a:t>
            </a: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ML classification models
</a:t>
            </a: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that determine landing success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SpaceX REST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Endpoint: api.spacexdata.com/v4/launches/past
• Extracted: rocket, payloads, launchpad, cores, flight number, date
• Filtered: Falcon 9 only | Dates ≤ Nov 13, 2020
• Helper functions: getBoosterVersion(), getLaunchSite(), getPayloadData(), getCoreData()
• Built structured DataFrame with 17 columns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097280"/>
            <a:ext cx="4023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Wikipedia Web Scraping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Wikipedia — List of Falcon 9 and Falcon Heavy launches
• Used BeautifulSoup to parse HTML tables
• Targeted: wikitable plainrowheaders collapsible class
• Extracted launch records as complementary dataset
• Provided booster version, payload, orbit &amp; outcome columns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WRANGLING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Feature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" cy="1691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3619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only Falcon 9 launches; removed multi-core &amp; multi-payload rows by filtering cores.map(len)==1 and payloads.map(len)==1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502920" cy="1691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53619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PayloadMass: filled NaN values with column mean (df['PayloadMass'].fillna(mean));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columns verified complete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97280"/>
            <a:ext cx="502920" cy="1691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53619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binary target column 'Class': identified bad outcomes (True Ocean, False ASDS, None None, etc.) → 0 (failure), all others → 1 (success)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71800"/>
            <a:ext cx="502920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41071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pd.get_dummies() to categorical columns (Orbit, LaunchSite, LandingPad, Serial) to create numeric features for ML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971800"/>
            <a:ext cx="502920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341071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StandardScaler (zero mean, unit variance) to normalize all features before model training; train/test split 80/20, random_state=2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EDA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Interactive Analytics —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25237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Scatter plots: Flight Number vs Launch Site, Payload vs Launch Site, Flight Number vs Orbit, Payload vs Orbit
• Bar charts: Success rate by orbit type (ISS, GTO, LEO, SSO…)
• Line chart: Yearly launch success rate trend (2010–2020)
• Used seaborn (hue='Class') to colour-code success vs failure
• Library: matplotlib + seaborn on pandas DataFrame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508760"/>
            <a:ext cx="25237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Loaded dataset into SQLite via df.to_sql('SPACEXTBL', conn)
• Queries: DISTINCT launch sites, min/max payload masses, success counts, booster reuse stats
• First successful landing date: SELECT MIN(Date) WHERE Class=1
• Drone-ship vs ground-pad landing success analysis
• 10 queries covering all graded SQL EDA tasks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97280"/>
            <a:ext cx="2743200" cy="3474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27648" y="1508760"/>
            <a:ext cx="25237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Folium map: clustered markers per launch site, colour-coded green/red for success/failure
• Proximity lines to coast, highway, railway calculated
• Plotly Dash: dropdown for site filter, range slider for payload
• Dash callbacks update pie chart (success ratio) &amp; scatter (payload vs outcome)
• Dashboard allows drill-down by individual or all sites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PREDICTIVE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Methodology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96012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dataset_part_3.csv — one-hot encoded categorical features + numeric columns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96012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2199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22199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Class: 1 = successful landing, 0 = failed landing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43784"/>
            <a:ext cx="96012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4378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843784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train_test_split: 80% train, 20% test, random_state=2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65576"/>
            <a:ext cx="96012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6557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3465576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zero-mean unit-variance normalization on 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087368"/>
            <a:ext cx="96012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8736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40873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10-fold cross-validation on each 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1207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581912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581912"/>
            <a:ext cx="73152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[0.01, 0.1, 1]  |  penalty: l2  |  solver: lbfgs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331720"/>
            <a:ext cx="73152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642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linear/rbf/poly/sigmoid  |  C &amp; gamma: logspace(-3,3,5)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08152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081528"/>
            <a:ext cx="73152" cy="6217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gini/entropy  |  splitter: best/random  |  max_depth: 2–18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83133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831336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4142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n_neighbors: 1–10  |  algorithm: auto/ball/kd/brute  |  p: 1,2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EDA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 —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Flight Number vs. Launch Site  (success=orange, failure=blue)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89888"/>
            <a:ext cx="8595360" cy="1783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4-Panel EDA: Flight# &amp; Payload vs Launch Site | Yearly Trend | Success by Orbit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84448"/>
            <a:ext cx="859536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EDA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EDA — 5-Panel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Extended EDA: Payload vs Site, Success by Orbit, Flight# &amp; Payload vs Orbit, Yearly Trend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8595360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 ISS, HEO, GEO orbits show highest success rates • Higher flight numbers trend toward more success • CCAFS SLC 40 has the most launches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 EDA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Query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29000" y="10789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8132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Launch Sites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148132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LC-40, CCAFS SLC-40, KSC LC 39A, VAFB SLC 4E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8595360" cy="338328"/>
          </a:xfrm>
          <a:prstGeom prst="rect">
            <a:avLst/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2880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1828800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Payload by NASA (CRS)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82880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~45,596 kg cumulative payload mass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39696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7627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176272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Payload (F9 v1.1)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17627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~2,534 kg average payload mass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8595360" cy="338328"/>
          </a:xfrm>
          <a:prstGeom prst="rect">
            <a:avLst/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2374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523744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 Land Landing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52374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2015-12-22 (first successful ground landing)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7121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2871216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Drone-Ship Landings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287121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Boosters: B1050, B1060 etc. — 5 boosters landed on drone ships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182112"/>
            <a:ext cx="8595360" cy="338328"/>
          </a:xfrm>
          <a:prstGeom prst="rect">
            <a:avLst/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21868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3218688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Count Before 2010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321868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 in LEO before 2010 (launches started later)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529584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56616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" y="3566160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Booster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29000" y="356616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with highest payload mass identified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877056"/>
            <a:ext cx="8595360" cy="338328"/>
          </a:xfrm>
          <a:prstGeom prst="rect">
            <a:avLst/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1363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" y="3913632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F9 FT Drone-Ship Outcomes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391363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True ASDS landing recorded in 2015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224528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26110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" y="4261104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Outcomes Ranked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29000" y="426110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ASDS &gt; True RTLS &gt; False ASDS &gt; None None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572000"/>
            <a:ext cx="8595360" cy="338328"/>
          </a:xfrm>
          <a:prstGeom prst="rect">
            <a:avLst/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60857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" y="4608576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Rank by Success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29000" y="460857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B1058, B1049, B1051 ranked highest reuse with success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FOLIUM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Launch Site Map — Folium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1325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Implementation Summary  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(Interactive HTML map generated with Folium — screenshot below shows layout)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map centred at KSC (28.56°N, 80.58°W), zoom level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 used for all launches — zooming in reveals individual markers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icon = landing success  |  Red icon = landing failure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578608"/>
            <a:ext cx="2011680" cy="24688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Launch Sites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10058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27248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578608"/>
            <a:ext cx="2011680" cy="2468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Proximity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3044952"/>
            <a:ext cx="10058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127248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located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coastlines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safety &amp; ocean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drop-zones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578608"/>
            <a:ext cx="2011680" cy="2468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Clusters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3044952"/>
            <a:ext cx="10058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127248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 shows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density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(success)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578608"/>
            <a:ext cx="2011680" cy="24688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Insight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3044952"/>
            <a:ext cx="10058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127248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close to rail,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highway, city but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too close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logistics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PLOTLY DASH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 — Results &amp;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466344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Launch Records Dashboard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66344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Dropdown: Select Launch Site ▾ ]  All Sites | CCAFS SLC-40 | KSC LC 39A | VAFB SLC-4E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219456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vs Failure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selected site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Success: ~66%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Failure: ~34%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0" y="2148840"/>
            <a:ext cx="233172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1945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(kg) vs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Booster Version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466344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Payload Range Slider: 0 kg ——●——————— 10,000 kg 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097280"/>
            <a:ext cx="33832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097280"/>
            <a:ext cx="73152" cy="5760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1152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Combined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14416" y="13716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~66.7% overall success rate across all 4 launch sites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783080"/>
            <a:ext cx="33832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783080"/>
            <a:ext cx="73152" cy="5760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4416" y="18379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14416" y="20574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success rate — majority of recent missions use this site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2468880"/>
            <a:ext cx="33832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2468880"/>
            <a:ext cx="73152" cy="5760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4416" y="25237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Payload = Higher Success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14416" y="27432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&lt; 6,000 kg consistently show more successful landings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3154680"/>
            <a:ext cx="33832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154680"/>
            <a:ext cx="73152" cy="5760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32095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Version Impact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14416" y="34290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FT/Block 5 versions have higher success rates than v1.0/v1.1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3840480"/>
            <a:ext cx="33832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3840480"/>
            <a:ext cx="73152" cy="5760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38953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Ship (ASDS)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14416" y="41148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high-orbit missions use drone-ship landings; improving over 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ML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Classification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0292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0789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80360" y="10789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0789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82.14%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80360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5029200" cy="438912"/>
          </a:xfrm>
          <a:prstGeom prst="rect">
            <a:avLst/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116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20116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20116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2011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7744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688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84.64%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8036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2468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5029200" cy="438912"/>
          </a:xfrm>
          <a:prstGeom prst="rect">
            <a:avLst/>
          </a:prstGeom>
          <a:solidFill>
            <a:srgbClr val="FFF9E6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26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2926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80360" y="2926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29260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converge to 83.33% test accuracy. KNN &amp; SVM lead in cross-validation (84.82%).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0" y="1078992"/>
            <a:ext cx="338328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1078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Confusion Matrix</a:t>
            </a:r>
            <a:endParaRPr lang="en-US" sz="10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63040"/>
            <a:ext cx="3383280" cy="242316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274320" y="3703320"/>
            <a:ext cx="8595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Predictive Insights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06908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matrix: 12 true positives, 3 true negatives — model is precise for success prediction
• 3 false positives indicate model over-predicts success — acceptable for cost estimation use-case
• All models tie at 83.33% test accuracy suggesting dataset limits rather than model limits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5720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ML classifiers achieved 83.3% test accuracy — a strong baseline for launch cost prediction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9961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and KNN led cross-validation at 84.82%; Logistic Regression was the simplest competitive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 and orbit type are the strongest predictors of first-stage landing success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 is the highest-success launch site, preferred for crewed and heavy-payload missions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success rates improved dramatically from ~0% in 2010 to near 90%+ by 2019–2020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+ Plotly Dash enabled interactive exploration unavailable in static EDA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977640"/>
            <a:ext cx="8321040" cy="3657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069079"/>
            <a:ext cx="8321040" cy="947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</a:t>
            </a:r>
          </a:p>
          <a:p>
            <a:pPr marL="0" indent="0">
              <a:buNone/>
            </a:pPr>
            <a:r>
              <a:rPr lang="en-US" sz="1000" i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M.Divya</a:t>
            </a: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Dharshini</a:t>
            </a:r>
          </a:p>
          <a:p>
            <a:pPr marL="0" indent="0">
              <a:buNone/>
            </a:pPr>
            <a:endParaRPr lang="en-US" sz="1000" i="1" dirty="0">
              <a:solidFill>
                <a:srgbClr val="8FA3B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i="1" dirty="0">
              <a:solidFill>
                <a:srgbClr val="8FA3B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i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 :</a:t>
            </a:r>
          </a:p>
          <a:p>
            <a:r>
              <a:rPr lang="en-US" sz="1000" dirty="0">
                <a:solidFill>
                  <a:schemeClr val="bg1"/>
                </a:solidFill>
              </a:rPr>
              <a:t>https://github.com/divya1505M/applied_ds_capstone</a:t>
            </a:r>
          </a:p>
        </p:txBody>
      </p:sp>
      <p:sp>
        <p:nvSpPr>
          <p:cNvPr id="14" name="Text 12"/>
          <p:cNvSpPr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1717</Words>
  <Application>Microsoft Office PowerPoint</Application>
  <PresentationFormat>On-screen Show (16:9)</PresentationFormat>
  <Paragraphs>217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Landing Prediction – IBM Applied Data Science Capstone</dc:title>
  <dc:subject>PptxGenJS Presentation</dc:subject>
  <dc:creator>PptxGenJS</dc:creator>
  <cp:lastModifiedBy>Divya Dharshini</cp:lastModifiedBy>
  <cp:revision>3</cp:revision>
  <dcterms:created xsi:type="dcterms:W3CDTF">2026-05-11T06:22:46Z</dcterms:created>
  <dcterms:modified xsi:type="dcterms:W3CDTF">2026-05-11T06:45:34Z</dcterms:modified>
</cp:coreProperties>
</file>